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5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583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9F6E"/>
                </a:solidFill>
                <a:latin typeface="Malgun Gothic"/>
              </a:rPr>
              <a:t>ASSIGNMENT 3 · SMALL ESPORTS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70432"/>
            <a:ext cx="6766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Malgun Gothic"/>
              </a:rPr>
              <a:t>KRAFTON</a:t>
            </a:r>
            <a:br/>
            <a:r>
              <a:rPr sz="4200" b="1">
                <a:solidFill>
                  <a:srgbClr val="FFFFFF"/>
                </a:solidFill>
                <a:latin typeface="Malgun Gothic"/>
              </a:rPr>
              <a:t>Community Cup 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6766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2DAE8"/>
                </a:solidFill>
                <a:latin typeface="Malgun Gothic"/>
              </a:rPr>
              <a:t>운영 경험 없는 커뮤니티 운영자가 30-50명 규모의 eSports 대회를 기획, 모집, 진행, 결과 공유까지 완주하도록 돕는 노코드 운영 지원 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977639"/>
            <a:ext cx="2926080" cy="310896"/>
          </a:xfrm>
          <a:prstGeom prst="roundRect">
            <a:avLst>
              <a:gd name="adj" fmla="val 30000"/>
            </a:avLst>
          </a:prstGeom>
          <a:solidFill>
            <a:srgbClr val="E8EEFF"/>
          </a:solidFill>
          <a:ln>
            <a:solidFill>
              <a:srgbClr val="E8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41648"/>
            <a:ext cx="2926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2457FF"/>
                </a:solidFill>
                <a:latin typeface="Malgun Gothic"/>
              </a:rPr>
              <a:t>Main proposal + Static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7790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algun Gothic"/>
              </a:rPr>
              <a:t>김경연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577900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D2DAE8"/>
                </a:solidFill>
                <a:latin typeface="Malgun Gothic"/>
              </a:rPr>
              <a:t>Publishing Platform PM Internship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32588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5048" y="1572768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5C697D"/>
                </a:solidFill>
                <a:latin typeface="Malgun Gothic"/>
              </a:rPr>
              <a:t>기획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5048" y="1773936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Malgun Gothic"/>
              </a:rPr>
              <a:t>모집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99448" y="1892807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09176" y="2139696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5C697D"/>
                </a:solidFill>
                <a:latin typeface="Malgun Gothic"/>
              </a:rPr>
              <a:t>체크인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9176" y="2340864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Malgun Gothic"/>
              </a:rPr>
              <a:t>진행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23576" y="2459736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33304" y="2706624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5C697D"/>
                </a:solidFill>
                <a:latin typeface="Malgun Gothic"/>
              </a:rPr>
              <a:t>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3304" y="2907791"/>
            <a:ext cx="6949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Malgun Gothic"/>
              </a:rPr>
              <a:t>공유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457FF"/>
                </a:solidFill>
                <a:latin typeface="Malgun Gothic"/>
              </a:rPr>
              <a:t>PUBLISHING PLATFORM PM ASSIGNMENT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8138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11827"/>
                </a:solidFill>
                <a:latin typeface="Malgun Gothic"/>
              </a:rPr>
              <a:t>과제 해석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C697D"/>
                </a:solidFill>
                <a:latin typeface="Malgun Gothic"/>
              </a:rPr>
              <a:t>문제는 대진표 생성이 아니라, 초보 운영자가 대회를 끝까지 운영할 수 있는가입니다.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24688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20574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1">
                <a:solidFill>
                  <a:srgbClr val="5C697D"/>
                </a:solidFill>
                <a:latin typeface="Malgun Gothic"/>
              </a:rPr>
              <a:t>대상 규모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227685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11827"/>
                </a:solidFill>
                <a:latin typeface="Malgun Gothic"/>
              </a:rPr>
              <a:t>30-50명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633472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97D"/>
                </a:solidFill>
                <a:latin typeface="Malgun Gothic"/>
              </a:rPr>
              <a:t>소규모 커뮤니티 대회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920240"/>
            <a:ext cx="24688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3864" y="20574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1">
                <a:solidFill>
                  <a:srgbClr val="5C697D"/>
                </a:solidFill>
                <a:latin typeface="Malgun Gothic"/>
              </a:rPr>
              <a:t>운영자 조건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3864" y="227685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11827"/>
                </a:solidFill>
                <a:latin typeface="Malgun Gothic"/>
              </a:rPr>
              <a:t>초보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3864" y="2633472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97D"/>
                </a:solidFill>
                <a:latin typeface="Malgun Gothic"/>
              </a:rPr>
              <a:t>운영 경험, 개발 역량, 툴 경험 없음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920240"/>
            <a:ext cx="24688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35624" y="20574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1">
                <a:solidFill>
                  <a:srgbClr val="5C697D"/>
                </a:solidFill>
                <a:latin typeface="Malgun Gothic"/>
              </a:rPr>
              <a:t>필수 여정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5624" y="227685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11827"/>
                </a:solidFill>
                <a:latin typeface="Malgun Gothic"/>
              </a:rPr>
              <a:t>4단계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5624" y="2633472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97D"/>
                </a:solidFill>
                <a:latin typeface="Malgun Gothic"/>
              </a:rPr>
              <a:t>기획 → 모집 → 진행 → 공유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920240"/>
            <a:ext cx="24688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87384" y="20574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1">
                <a:solidFill>
                  <a:srgbClr val="5C697D"/>
                </a:solidFill>
                <a:latin typeface="Malgun Gothic"/>
              </a:rPr>
              <a:t>PM 평가 포인트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87384" y="227685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11827"/>
                </a:solidFill>
                <a:latin typeface="Malgun Gothic"/>
              </a:rPr>
              <a:t>KPI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87384" y="2633472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97D"/>
                </a:solidFill>
                <a:latin typeface="Malgun Gothic"/>
              </a:rPr>
              <a:t>문제 정의와 효과 측정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337560"/>
            <a:ext cx="108356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337560"/>
            <a:ext cx="73152" cy="1417320"/>
          </a:xfrm>
          <a:prstGeom prst="rect">
            <a:avLst/>
          </a:prstGeom>
          <a:solidFill>
            <a:srgbClr val="2457FF"/>
          </a:solidFill>
          <a:ln>
            <a:solidFill>
              <a:srgbClr val="2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3502152"/>
            <a:ext cx="105064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Malgun Gothic"/>
              </a:rPr>
              <a:t>해석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3904487"/>
            <a:ext cx="1050645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C697D"/>
                </a:solidFill>
                <a:latin typeface="Malgun Gothic"/>
              </a:rPr>
              <a:t>운영자는 룰, 모집, 체크인, 대진 진행, 결과 공유를 모두 혼자 처리합니다. 가장 큰 실패 요인은 기능 부재보다 운영 순서와 의사결정 기준을 모르는 상태입니다.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2823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97D"/>
                </a:solidFill>
                <a:latin typeface="Malgun Gothic"/>
              </a:rPr>
              <a:t>KRAFTON Community Cup Kit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C697D"/>
                </a:solidFill>
                <a:latin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457FF"/>
                </a:solidFill>
                <a:latin typeface="Malgun Gothic"/>
              </a:rPr>
              <a:t>PUBLISHING PLATFORM PM ASSIGNMENT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8138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11827"/>
                </a:solidFill>
                <a:latin typeface="Malgun Gothic"/>
              </a:rPr>
              <a:t>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C697D"/>
                </a:solidFill>
                <a:latin typeface="Malgun Gothic"/>
              </a:rPr>
              <a:t>소규모 대회는 프로덕션 규모가 작아도 운영 복잡도는 작지 않습니다.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375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73152" cy="2011680"/>
          </a:xfrm>
          <a:prstGeom prst="rect">
            <a:avLst/>
          </a:prstGeom>
          <a:solidFill>
            <a:srgbClr val="2457FF"/>
          </a:solidFill>
          <a:ln>
            <a:solidFill>
              <a:srgbClr val="2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93392"/>
            <a:ext cx="3008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Malgun Gothic"/>
              </a:rPr>
              <a:t>툴은 흩어져 있음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95728"/>
            <a:ext cx="3008376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C697D"/>
                </a:solidFill>
                <a:latin typeface="Malgun Gothic"/>
              </a:rPr>
              <a:t>구글폼, 디스코드, 스프레드시트, 대진표 툴을 오가며 상태를 수동으로 맞춥니다.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3375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828800"/>
            <a:ext cx="73152" cy="2011680"/>
          </a:xfrm>
          <a:prstGeom prst="rect">
            <a:avLst/>
          </a:prstGeom>
          <a:solidFill>
            <a:srgbClr val="B86D00"/>
          </a:solidFill>
          <a:ln>
            <a:solidFill>
              <a:srgbClr val="B8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993392"/>
            <a:ext cx="3008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Malgun Gothic"/>
              </a:rPr>
              <a:t>판단 기준이 없음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2395728"/>
            <a:ext cx="3008376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C697D"/>
                </a:solidFill>
                <a:latin typeface="Malgun Gothic"/>
              </a:rPr>
              <a:t>노쇼, 동점, 결과 인증, 이의제기처럼 당일에 터지는 예외를 사전에 정의하지 못합니다.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828800"/>
            <a:ext cx="33375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828800"/>
            <a:ext cx="73152" cy="2011680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1" y="1993392"/>
            <a:ext cx="3008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Malgun Gothic"/>
              </a:rPr>
              <a:t>병목이 운영자에게 집중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2395728"/>
            <a:ext cx="3008376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C697D"/>
                </a:solidFill>
                <a:latin typeface="Malgun Gothic"/>
              </a:rPr>
              <a:t>대회가 시작되면 문의, 지연, 결과 검수, 다음 라운드 공지가 한 사람에게 몰립니다.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70916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11827"/>
                </a:solidFill>
                <a:latin typeface="Malgun Gothic"/>
              </a:rPr>
              <a:t>따라서 해결책은 bracket tool이 아니라, 대회 완주를 돕는 운영 kit가 되어야 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2823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97D"/>
                </a:solidFill>
                <a:latin typeface="Malgun Gothic"/>
              </a:rPr>
              <a:t>KRAFTON Community Cup Kit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C697D"/>
                </a:solidFill>
                <a:latin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457FF"/>
                </a:solidFill>
                <a:latin typeface="Malgun Gothic"/>
              </a:rPr>
              <a:t>PUBLISHING PLATFORM PM ASSIGNMENT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8138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11827"/>
                </a:solidFill>
                <a:latin typeface="Malgun Gothic"/>
              </a:rPr>
              <a:t>유저 여정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C697D"/>
                </a:solidFill>
                <a:latin typeface="Malgun Gothic"/>
              </a:rPr>
              <a:t>기획부터 결과 공유까지 한 흐름으로 관리해야 운영 실패 지점을 줄일 수 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1901952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73152" cy="2377440"/>
          </a:xfrm>
          <a:prstGeom prst="rect">
            <a:avLst/>
          </a:prstGeom>
          <a:solidFill>
            <a:srgbClr val="2457FF"/>
          </a:solidFill>
          <a:ln>
            <a:solidFill>
              <a:srgbClr val="2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130552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Malgun Gothic"/>
              </a:rPr>
              <a:t>01. 기획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532888"/>
            <a:ext cx="1572768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97D"/>
                </a:solidFill>
                <a:latin typeface="Malgun Gothic"/>
              </a:rPr>
              <a:t>게임, 인원, 포맷, 일정, 운영 채널 설정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297180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C697D"/>
                </a:solidFill>
                <a:latin typeface="Malgun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965960"/>
            <a:ext cx="1901952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1965960"/>
            <a:ext cx="73152" cy="237744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2130552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Malgun Gothic"/>
              </a:rPr>
              <a:t>02. 모집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2532888"/>
            <a:ext cx="1572768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97D"/>
                </a:solidFill>
                <a:latin typeface="Malgun Gothic"/>
              </a:rPr>
              <a:t>참가 신청 페이지, 룰북, 체크인 안내 발행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297180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C697D"/>
                </a:solidFill>
                <a:latin typeface="Malgun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1965960"/>
            <a:ext cx="1901952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66360" y="1965960"/>
            <a:ext cx="73152" cy="2377440"/>
          </a:xfrm>
          <a:prstGeom prst="rect">
            <a:avLst/>
          </a:prstGeom>
          <a:solidFill>
            <a:srgbClr val="B86D00"/>
          </a:solidFill>
          <a:ln>
            <a:solidFill>
              <a:srgbClr val="B8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0952" y="2130552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Malgun Gothic"/>
              </a:rPr>
              <a:t>03. 체크인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2532888"/>
            <a:ext cx="1572768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97D"/>
                </a:solidFill>
                <a:latin typeface="Malgun Gothic"/>
              </a:rPr>
              <a:t>실제 참여 의사 확인, 노쇼 후보 분리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297180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C697D"/>
                </a:solidFill>
                <a:latin typeface="Malgun Gothi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65960"/>
            <a:ext cx="1901952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1965960"/>
            <a:ext cx="73152" cy="2377440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232" y="2130552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Malgun Gothic"/>
              </a:rPr>
              <a:t>04. 진행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2" y="2532888"/>
            <a:ext cx="1572768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97D"/>
                </a:solidFill>
                <a:latin typeface="Malgun Gothic"/>
              </a:rPr>
              <a:t>매치 배정, 결과 제출, 지연 및 분쟁 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297180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C697D"/>
                </a:solidFill>
                <a:latin typeface="Malgun Gothic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20" y="1965960"/>
            <a:ext cx="1901952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6920" y="1965960"/>
            <a:ext cx="73152" cy="2377440"/>
          </a:xfrm>
          <a:prstGeom prst="rect">
            <a:avLst/>
          </a:prstGeom>
          <a:solidFill>
            <a:srgbClr val="2457FF"/>
          </a:solidFill>
          <a:ln>
            <a:solidFill>
              <a:srgbClr val="2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11512" y="2130552"/>
            <a:ext cx="15727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Malgun Gothic"/>
              </a:rPr>
              <a:t>05. 공유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1512" y="2532888"/>
            <a:ext cx="1572768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97D"/>
                </a:solidFill>
                <a:latin typeface="Malgun Gothic"/>
              </a:rPr>
              <a:t>순위 확정, 결과 카드, 다음 대회 CTA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846320"/>
            <a:ext cx="108356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4846320"/>
            <a:ext cx="73152" cy="73152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5010912"/>
            <a:ext cx="105064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Malgun Gothic"/>
              </a:rPr>
              <a:t>핵심 관점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" y="5413248"/>
            <a:ext cx="10506456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C697D"/>
                </a:solidFill>
                <a:latin typeface="Malgun Gothic"/>
              </a:rPr>
              <a:t>각 단계가 따로 존재하면 운영자가 상태를 맞추는 데 시간을 쓰고, 하나의 운영 대시보드로 묶이면 다음 행동이 명확해집니다.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2823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97D"/>
                </a:solidFill>
                <a:latin typeface="Malgun Gothic"/>
              </a:rPr>
              <a:t>KRAFTON Community Cup Kit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C697D"/>
                </a:solidFill>
                <a:latin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457FF"/>
                </a:solidFill>
                <a:latin typeface="Malgun Gothic"/>
              </a:rPr>
              <a:t>PUBLISHING PLATFORM PM ASSIGNMENT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8138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11827"/>
                </a:solidFill>
                <a:latin typeface="Malgun Gothic"/>
              </a:rPr>
              <a:t>운영자가 겪는 어려움 3가지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C697D"/>
                </a:solidFill>
                <a:latin typeface="Malgun Gothic"/>
              </a:rPr>
              <a:t>PM 관점에서는 빈도, 심각도, 해결 가능성을 함께 봐야 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28800"/>
            <a:ext cx="10698480" cy="685800"/>
          </a:xfrm>
          <a:prstGeom prst="roundRect">
            <a:avLst>
              <a:gd name="adj" fmla="val 8000"/>
            </a:avLst>
          </a:prstGeom>
          <a:solidFill>
            <a:srgbClr val="101521"/>
          </a:solidFill>
          <a:ln>
            <a:solidFill>
              <a:srgbClr val="1015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975104"/>
            <a:ext cx="204825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1">
                <a:solidFill>
                  <a:srgbClr val="FFFFFF"/>
                </a:solidFill>
                <a:latin typeface="Malgun Gothic"/>
              </a:rPr>
              <a:t>어려움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0944" y="1975104"/>
            <a:ext cx="64373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1">
                <a:solidFill>
                  <a:srgbClr val="FFFFFF"/>
                </a:solidFill>
                <a:latin typeface="Malgun Gothic"/>
              </a:rPr>
              <a:t>구체 상황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64624" y="1975104"/>
            <a:ext cx="17739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1">
                <a:solidFill>
                  <a:srgbClr val="FFFFFF"/>
                </a:solidFill>
                <a:latin typeface="Malgun Gothic"/>
              </a:rPr>
              <a:t>심각도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514600"/>
            <a:ext cx="1069848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651760"/>
            <a:ext cx="204825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룰/포맷 설계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2651760"/>
            <a:ext cx="64373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체크인 시간, 노쇼, 동점, 이의제기 기준을 정하기 어려움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64624" y="2651760"/>
            <a:ext cx="17739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높음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3200400"/>
            <a:ext cx="10698480" cy="685800"/>
          </a:xfrm>
          <a:prstGeom prst="rect">
            <a:avLst/>
          </a:prstGeom>
          <a:solidFill>
            <a:srgbClr val="F8FAF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337560"/>
            <a:ext cx="204825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참가자 모집·확정 혼선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44" y="3337560"/>
            <a:ext cx="64373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신청 채널과 실제 참여자가 달라 당일 결원이 발생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64624" y="3337560"/>
            <a:ext cx="17739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매우 높음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886200"/>
            <a:ext cx="1069848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023360"/>
            <a:ext cx="204825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대회 당일 진행 병목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0944" y="4023360"/>
            <a:ext cx="64373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대진 업데이트, 결과 인증, 문의, 공지가 운영자 1명에게 집중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64624" y="4023360"/>
            <a:ext cx="17739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매우 높음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892040"/>
            <a:ext cx="1069848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4892040"/>
            <a:ext cx="73152" cy="777240"/>
          </a:xfrm>
          <a:prstGeom prst="rect">
            <a:avLst/>
          </a:prstGeom>
          <a:solidFill>
            <a:srgbClr val="2457FF"/>
          </a:solidFill>
          <a:ln>
            <a:solidFill>
              <a:srgbClr val="2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5056631"/>
            <a:ext cx="10369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Malgun Gothic"/>
              </a:rPr>
              <a:t>선택 기준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5458968"/>
            <a:ext cx="10369296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C697D"/>
                </a:solidFill>
                <a:latin typeface="Malgun Gothic"/>
              </a:rPr>
              <a:t>룰 생성과 모집 페이지는 기존 툴과 겹치기 쉽습니다. 당일 진행 병목은 초보 운영자의 실제 실패 지점이며 UX 플로우와 KPI로 검증하기 좋습니다.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2823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97D"/>
                </a:solidFill>
                <a:latin typeface="Malgun Gothic"/>
              </a:rPr>
              <a:t>KRAFTON Community Cup Kit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C697D"/>
                </a:solidFill>
                <a:latin typeface="Malgun Gothi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457FF"/>
                </a:solidFill>
                <a:latin typeface="Malgun Gothic"/>
              </a:rPr>
              <a:t>PUBLISHING PLATFORM PM ASSIGNMENT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8138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11827"/>
                </a:solidFill>
                <a:latin typeface="Malgun Gothic"/>
              </a:rPr>
              <a:t>선택한 문제: 대회 당일 진행 병목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C697D"/>
                </a:solidFill>
                <a:latin typeface="Malgun Gothic"/>
              </a:rPr>
              <a:t>체크인 이후부터 결과 공유 전까지가 대회 완주율을 가장 크게 흔듭니다.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5486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Malgun Gothic"/>
              </a:defRPr>
            </a:pPr>
            <a:r>
              <a:t>노쇼와 미입장 참가자를 수동으로 확인하면서 시작 시간이 밀림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Malgun Gothic"/>
              </a:defRPr>
            </a:pPr>
            <a:r>
              <a:t>경기 결과 제출과 스크린샷 검수가 늦어 다음 라운드 공지가 지연됨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Malgun Gothic"/>
              </a:defRPr>
            </a:pPr>
            <a:r>
              <a:t>분쟁, 문의, 채팅 안내가 섞여 운영자가 우선순위를 판단하기 어려움</a:t>
            </a:r>
          </a:p>
          <a:p>
            <a:pPr>
              <a:spcAft>
                <a:spcPts val="800"/>
              </a:spcAft>
              <a:defRPr sz="1400">
                <a:solidFill>
                  <a:srgbClr val="111827"/>
                </a:solidFill>
                <a:latin typeface="Malgun Gothic"/>
              </a:defRPr>
            </a:pPr>
            <a:r>
              <a:t>최종 결과 공유까지 정리하지 못하면 커뮤니티 이벤트의 학습과 재개최로 이어지지 않음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1874519"/>
            <a:ext cx="44805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12280" y="1874519"/>
            <a:ext cx="73152" cy="2560320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76872" y="2039112"/>
            <a:ext cx="4151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Malgun Gothic"/>
              </a:rPr>
              <a:t>PM 문제 문장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6872" y="2441448"/>
            <a:ext cx="4151376" cy="184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C697D"/>
                </a:solidFill>
                <a:latin typeface="Malgun Gothic"/>
              </a:rPr>
              <a:t>초보 커뮤니티 운영자는 대회 당일 발생하는 예외를 한 화면에서 우선순위화하지 못해 경기 지연과 결과 공유 실패를 경험한다.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59168" y="4800600"/>
            <a:ext cx="2926080" cy="310896"/>
          </a:xfrm>
          <a:prstGeom prst="roundRect">
            <a:avLst>
              <a:gd name="adj" fmla="val 30000"/>
            </a:avLst>
          </a:prstGeom>
          <a:solidFill>
            <a:srgbClr val="E8EEFF"/>
          </a:solidFill>
          <a:ln>
            <a:solidFill>
              <a:srgbClr val="E8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59168" y="4864608"/>
            <a:ext cx="2926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2457FF"/>
                </a:solidFill>
                <a:latin typeface="Malgun Gothic"/>
              </a:rPr>
              <a:t>해결 초점: 라이브 운영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2823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97D"/>
                </a:solidFill>
                <a:latin typeface="Malgun Gothic"/>
              </a:rPr>
              <a:t>KRAFTON Community Cup Kit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C697D"/>
                </a:solidFill>
                <a:latin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457FF"/>
                </a:solidFill>
                <a:latin typeface="Malgun Gothic"/>
              </a:rPr>
              <a:t>PUBLISHING PLATFORM PM ASSIGNMENT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8138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11827"/>
                </a:solidFill>
                <a:latin typeface="Malgun Gothic"/>
              </a:rPr>
              <a:t>솔루션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C697D"/>
                </a:solidFill>
                <a:latin typeface="Malgun Gothic"/>
              </a:rPr>
              <a:t>Community Cup Kit은 초보 운영자가 대회를 완주하도록 돕는 노코드 운영 지원 툴입니다.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28800"/>
            <a:ext cx="33832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828800"/>
            <a:ext cx="73152" cy="2011680"/>
          </a:xfrm>
          <a:prstGeom prst="rect">
            <a:avLst/>
          </a:prstGeom>
          <a:solidFill>
            <a:srgbClr val="2457FF"/>
          </a:solidFill>
          <a:ln>
            <a:solidFill>
              <a:srgbClr val="2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993392"/>
            <a:ext cx="3054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Malgun Gothic"/>
              </a:rPr>
              <a:t>Create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395728"/>
            <a:ext cx="3054096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C697D"/>
                </a:solidFill>
                <a:latin typeface="Malgun Gothic"/>
              </a:rPr>
              <a:t>게임, 참가 규모, 경기 방식, 일정, 운영 채널만 입력하면 기본 운영 세트가 생성됩니다.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828800"/>
            <a:ext cx="33832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828800"/>
            <a:ext cx="73152" cy="201168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93392"/>
            <a:ext cx="3054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Malgun Gothic"/>
              </a:rPr>
              <a:t>Operate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95728"/>
            <a:ext cx="3054096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C697D"/>
                </a:solidFill>
                <a:latin typeface="Malgun Gothic"/>
              </a:rPr>
              <a:t>체크인, 지연 경기, 결과 제출, 이의제기, 다음 라운드 준비 상태를 한 화면에서 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828800"/>
            <a:ext cx="33832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1828800"/>
            <a:ext cx="73152" cy="2011680"/>
          </a:xfrm>
          <a:prstGeom prst="rect">
            <a:avLst/>
          </a:prstGeom>
          <a:solidFill>
            <a:srgbClr val="B86D00"/>
          </a:solidFill>
          <a:ln>
            <a:solidFill>
              <a:srgbClr val="B8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1993392"/>
            <a:ext cx="3054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Malgun Gothic"/>
              </a:rPr>
              <a:t>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2395728"/>
            <a:ext cx="3054096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C697D"/>
                </a:solidFill>
                <a:latin typeface="Malgun Gothic"/>
              </a:rPr>
              <a:t>최종 순위, 하이라이트, 다음 대회 모집 문구를 자동으로 정리해 커뮤니티에 공유합니다.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572000"/>
            <a:ext cx="1077163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4572000"/>
            <a:ext cx="73152" cy="868680"/>
          </a:xfrm>
          <a:prstGeom prst="rect">
            <a:avLst/>
          </a:prstGeom>
          <a:solidFill>
            <a:srgbClr val="2457FF"/>
          </a:solidFill>
          <a:ln>
            <a:solidFill>
              <a:srgbClr val="2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736592"/>
            <a:ext cx="104424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Malgun Gothic"/>
              </a:rPr>
              <a:t>포지셔닝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5138928"/>
            <a:ext cx="10442448" cy="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C697D"/>
                </a:solidFill>
                <a:latin typeface="Malgun Gothic"/>
              </a:rPr>
              <a:t>기존 bracket tool을 대체하는 제품이 아니라, KRAFTON 게임 커뮤니티의 소규모 대회 운영자가 처음부터 끝까지 따라갈 수 있는 운영 kit입니다.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2823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97D"/>
                </a:solidFill>
                <a:latin typeface="Malgun Gothic"/>
              </a:rPr>
              <a:t>KRAFTON Community Cup Kit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C697D"/>
                </a:solidFill>
                <a:latin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457FF"/>
                </a:solidFill>
                <a:latin typeface="Malgun Gothic"/>
              </a:rPr>
              <a:t>PUBLISHING PLATFORM PM ASSIGNMENT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8138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11827"/>
                </a:solidFill>
                <a:latin typeface="Malgun Gothic"/>
              </a:rPr>
              <a:t>핵심 UX 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C697D"/>
                </a:solidFill>
                <a:latin typeface="Malgun Gothic"/>
              </a:rPr>
              <a:t>운영자가 다음에 해야 할 일을 제품이 계속 제안합니다.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28800"/>
            <a:ext cx="411480" cy="310896"/>
          </a:xfrm>
          <a:prstGeom prst="roundRect">
            <a:avLst>
              <a:gd name="adj" fmla="val 30000"/>
            </a:avLst>
          </a:prstGeom>
          <a:solidFill>
            <a:srgbClr val="2457FF"/>
          </a:solidFill>
          <a:ln>
            <a:solidFill>
              <a:srgbClr val="2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92807"/>
            <a:ext cx="411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33172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Malgun Gothic"/>
              </a:rPr>
              <a:t>대회 생성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9748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97D"/>
                </a:solidFill>
                <a:latin typeface="Malgun Gothic"/>
              </a:rPr>
              <a:t>게임/인원/방식/일정 입력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35224" y="1828800"/>
            <a:ext cx="411480" cy="310896"/>
          </a:xfrm>
          <a:prstGeom prst="roundRect">
            <a:avLst>
              <a:gd name="adj" fmla="val 30000"/>
            </a:avLst>
          </a:prstGeom>
          <a:solidFill>
            <a:srgbClr val="2457FF"/>
          </a:solidFill>
          <a:ln>
            <a:solidFill>
              <a:srgbClr val="2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35224" y="1892807"/>
            <a:ext cx="411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5224" y="233172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Malgun Gothic"/>
              </a:rPr>
              <a:t>AI 룰북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5224" y="269748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97D"/>
                </a:solidFill>
                <a:latin typeface="Malgun Gothic"/>
              </a:rPr>
              <a:t>노쇼, 동점, 이의제기 누락 탐지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7216" y="1828800"/>
            <a:ext cx="411480" cy="310896"/>
          </a:xfrm>
          <a:prstGeom prst="roundRect">
            <a:avLst>
              <a:gd name="adj" fmla="val 30000"/>
            </a:avLst>
          </a:prstGeom>
          <a:solidFill>
            <a:srgbClr val="2457FF"/>
          </a:solidFill>
          <a:ln>
            <a:solidFill>
              <a:srgbClr val="2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57216" y="1892807"/>
            <a:ext cx="411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233172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Malgun Gothic"/>
              </a:rPr>
              <a:t>체크인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269748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97D"/>
                </a:solidFill>
                <a:latin typeface="Malgun Gothic"/>
              </a:rPr>
              <a:t>실제 참가자 확정 및 대체자 처리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9208" y="1828800"/>
            <a:ext cx="411480" cy="310896"/>
          </a:xfrm>
          <a:prstGeom prst="roundRect">
            <a:avLst>
              <a:gd name="adj" fmla="val 30000"/>
            </a:avLst>
          </a:prstGeom>
          <a:solidFill>
            <a:srgbClr val="2457FF"/>
          </a:solidFill>
          <a:ln>
            <a:solidFill>
              <a:srgbClr val="2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9208" y="1892807"/>
            <a:ext cx="411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233172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Malgun Gothic"/>
              </a:rPr>
              <a:t>라이브 진행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9208" y="269748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97D"/>
                </a:solidFill>
                <a:latin typeface="Malgun Gothic"/>
              </a:rPr>
              <a:t>지연 경기와 분쟁을 우선순위화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828800"/>
            <a:ext cx="411480" cy="310896"/>
          </a:xfrm>
          <a:prstGeom prst="roundRect">
            <a:avLst>
              <a:gd name="adj" fmla="val 30000"/>
            </a:avLst>
          </a:prstGeom>
          <a:solidFill>
            <a:srgbClr val="2457FF"/>
          </a:solidFill>
          <a:ln>
            <a:solidFill>
              <a:srgbClr val="2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1892807"/>
            <a:ext cx="411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33172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Malgun Gothic"/>
              </a:rPr>
              <a:t>결과 공유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97480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C697D"/>
                </a:solidFill>
                <a:latin typeface="Malgun Gothic"/>
              </a:rPr>
              <a:t>랭킹, 공지, 다음 대회 CTA 생성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4160520"/>
            <a:ext cx="10698480" cy="475488"/>
          </a:xfrm>
          <a:prstGeom prst="roundRect">
            <a:avLst>
              <a:gd name="adj" fmla="val 8000"/>
            </a:avLst>
          </a:prstGeom>
          <a:solidFill>
            <a:srgbClr val="101521"/>
          </a:solidFill>
          <a:ln>
            <a:solidFill>
              <a:srgbClr val="1015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4306824"/>
            <a:ext cx="18653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1">
                <a:solidFill>
                  <a:srgbClr val="FFFFFF"/>
                </a:solidFill>
                <a:latin typeface="Malgun Gothic"/>
              </a:rPr>
              <a:t>화면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98064" y="4306824"/>
            <a:ext cx="360273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1">
                <a:solidFill>
                  <a:srgbClr val="FFFFFF"/>
                </a:solidFill>
                <a:latin typeface="Malgun Gothic"/>
              </a:rPr>
              <a:t>운영자 행동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4306824"/>
            <a:ext cx="47914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1">
                <a:solidFill>
                  <a:srgbClr val="FFFFFF"/>
                </a:solidFill>
                <a:latin typeface="Malgun Gothic"/>
              </a:rPr>
              <a:t>제품 지원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4636008"/>
            <a:ext cx="106984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4773168"/>
            <a:ext cx="18653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대회 생성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98064" y="4773168"/>
            <a:ext cx="360273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최소 입력값만 선택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7104" y="4773168"/>
            <a:ext cx="47914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룰북, 체크인 페이지, 모집 문구 자동 생성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5111496"/>
            <a:ext cx="10698480" cy="475488"/>
          </a:xfrm>
          <a:prstGeom prst="rect">
            <a:avLst/>
          </a:prstGeom>
          <a:solidFill>
            <a:srgbClr val="F8FAF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5248656"/>
            <a:ext cx="18653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라이브 대시보드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98064" y="5248656"/>
            <a:ext cx="360273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리스크 큐부터 처리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4" y="5248656"/>
            <a:ext cx="47914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지연, 미제출, 분쟁 상태를 우선순위화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" y="5586984"/>
            <a:ext cx="106984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" y="5724144"/>
            <a:ext cx="18653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결과 공유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98064" y="5724144"/>
            <a:ext cx="360273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복사 또는 게시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47104" y="5724144"/>
            <a:ext cx="47914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우승자 카드, 순위표, 커뮤니티 공지 초안 생성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2823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97D"/>
                </a:solidFill>
                <a:latin typeface="Malgun Gothic"/>
              </a:rPr>
              <a:t>KRAFTON Community Cup Kit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C697D"/>
                </a:solidFill>
                <a:latin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457FF"/>
                </a:solidFill>
                <a:latin typeface="Malgun Gothic"/>
              </a:rPr>
              <a:t>PUBLISHING PLATFORM PM ASSIGNMENT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8138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11827"/>
                </a:solidFill>
                <a:latin typeface="Malgun Gothic"/>
              </a:rPr>
              <a:t>프로토타입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C697D"/>
                </a:solidFill>
                <a:latin typeface="Malgun Gothic"/>
              </a:rPr>
              <a:t>정적 웹 프로토타입은 3개 화면으로 핵심 흐름만 검증합니다.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28800"/>
            <a:ext cx="33375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828800"/>
            <a:ext cx="73152" cy="3291840"/>
          </a:xfrm>
          <a:prstGeom prst="rect">
            <a:avLst/>
          </a:prstGeom>
          <a:solidFill>
            <a:srgbClr val="2457FF"/>
          </a:solidFill>
          <a:ln>
            <a:solidFill>
              <a:srgbClr val="2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993392"/>
            <a:ext cx="3008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Malgun Gothic"/>
              </a:rPr>
              <a:t>01 대회 생성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395728"/>
            <a:ext cx="3008376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C697D"/>
                </a:solidFill>
                <a:latin typeface="Malgun Gothic"/>
              </a:rPr>
              <a:t>게임, 참가자 수, 경기 방식, 일정, 운영 채널을 입력하고 AI 룰북 초안을 생성합니다.</a:t>
            </a:r>
            <a:br/>
            <a:br/>
            <a:r>
              <a:rPr sz="1100" b="0">
                <a:solidFill>
                  <a:srgbClr val="5C697D"/>
                </a:solidFill>
                <a:latin typeface="Malgun Gothic"/>
              </a:rPr>
              <a:t>핵심: 생성 완료율 개선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3375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828800"/>
            <a:ext cx="73152" cy="329184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993392"/>
            <a:ext cx="3008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Malgun Gothic"/>
              </a:rPr>
              <a:t>02 라이브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2395728"/>
            <a:ext cx="3008376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C697D"/>
                </a:solidFill>
                <a:latin typeface="Malgun Gothic"/>
              </a:rPr>
              <a:t>체크인 현황, 지연 경기, 결과 제출, 이의제기, 다음 라운드 준비 상태를 통합합니다.</a:t>
            </a:r>
            <a:br/>
            <a:br/>
            <a:r>
              <a:rPr sz="1100" b="0">
                <a:solidFill>
                  <a:srgbClr val="5C697D"/>
                </a:solidFill>
                <a:latin typeface="Malgun Gothic"/>
              </a:rPr>
              <a:t>핵심: 진행 병목 감소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1828800"/>
            <a:ext cx="33375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56448" y="1828800"/>
            <a:ext cx="73152" cy="3291840"/>
          </a:xfrm>
          <a:prstGeom prst="rect">
            <a:avLst/>
          </a:prstGeom>
          <a:solidFill>
            <a:srgbClr val="B86D00"/>
          </a:solidFill>
          <a:ln>
            <a:solidFill>
              <a:srgbClr val="B8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993392"/>
            <a:ext cx="3008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Malgun Gothic"/>
              </a:rPr>
              <a:t>03 결과 공유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95728"/>
            <a:ext cx="3008376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C697D"/>
                </a:solidFill>
                <a:latin typeface="Malgun Gothic"/>
              </a:rPr>
              <a:t>최종 순위와 커뮤니티 공지 초안을 자동 생성하고 재개최 CTA를 붙입니다.</a:t>
            </a:r>
            <a:br/>
            <a:br/>
            <a:r>
              <a:rPr sz="1100" b="0">
                <a:solidFill>
                  <a:srgbClr val="5C697D"/>
                </a:solidFill>
                <a:latin typeface="Malgun Gothic"/>
              </a:rPr>
              <a:t>핵심: 대회 완주율 개선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5321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5C697D"/>
                </a:solidFill>
                <a:latin typeface="Malgun Gothic"/>
              </a:rPr>
              <a:t>Prototype file: index.html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2823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97D"/>
                </a:solidFill>
                <a:latin typeface="Malgun Gothic"/>
              </a:rPr>
              <a:t>KRAFTON Community Cup Kit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C697D"/>
                </a:solidFill>
                <a:latin typeface="Malgun Gothi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457FF"/>
                </a:solidFill>
                <a:latin typeface="Malgun Gothic"/>
              </a:rPr>
              <a:t>PUBLISHING PLATFORM PM ASSIGNMENT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8138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11827"/>
                </a:solidFill>
                <a:latin typeface="Malgun Gothic"/>
              </a:rPr>
              <a:t>경쟁사 대비 차별점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C697D"/>
                </a:solidFill>
                <a:latin typeface="Malgun Gothic"/>
              </a:rPr>
              <a:t>대진표 기능이 아니라 초보 운영자의 완주 경험에 집중합니다.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783080"/>
            <a:ext cx="10698480" cy="603504"/>
          </a:xfrm>
          <a:prstGeom prst="roundRect">
            <a:avLst>
              <a:gd name="adj" fmla="val 8000"/>
            </a:avLst>
          </a:prstGeom>
          <a:solidFill>
            <a:srgbClr val="101521"/>
          </a:solidFill>
          <a:ln>
            <a:solidFill>
              <a:srgbClr val="1015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929384"/>
            <a:ext cx="16824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1">
                <a:solidFill>
                  <a:srgbClr val="FFFFFF"/>
                </a:solidFill>
                <a:latin typeface="Malgun Gothic"/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1929384"/>
            <a:ext cx="41970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1">
                <a:solidFill>
                  <a:srgbClr val="FFFFFF"/>
                </a:solidFill>
                <a:latin typeface="Malgun Gothic"/>
              </a:rPr>
              <a:t>기존 대회 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8584" y="1929384"/>
            <a:ext cx="43799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1">
                <a:solidFill>
                  <a:srgbClr val="FFFFFF"/>
                </a:solidFill>
                <a:latin typeface="Malgun Gothic"/>
              </a:rPr>
              <a:t>Community Cup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386584"/>
            <a:ext cx="1069848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523744"/>
            <a:ext cx="16824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핵심 가치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5184" y="2523744"/>
            <a:ext cx="41970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대진표, 참가 등록, 토너먼트 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8584" y="2523744"/>
            <a:ext cx="43799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운영 순서와 예외 처리까지 안내하는 운영 kit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990088"/>
            <a:ext cx="10698480" cy="603504"/>
          </a:xfrm>
          <a:prstGeom prst="rect">
            <a:avLst/>
          </a:prstGeom>
          <a:solidFill>
            <a:srgbClr val="F8FAF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127248"/>
            <a:ext cx="16824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초보 운영자 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5184" y="3127248"/>
            <a:ext cx="41970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기능은 많지만 사전 판단 기준은 운영자가 직접 설정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8584" y="3127248"/>
            <a:ext cx="43799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룰북 누락 리스크와 당일 처리 우선순위를 제안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593591"/>
            <a:ext cx="1069848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3730752"/>
            <a:ext cx="16824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대회 당일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15184" y="3730752"/>
            <a:ext cx="41970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매치 결과 입력 중심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3730752"/>
            <a:ext cx="43799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체크인, 지연, 분쟁, 다음 라운드 준비를 한 화면에 통합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4197096"/>
            <a:ext cx="10698480" cy="603504"/>
          </a:xfrm>
          <a:prstGeom prst="rect">
            <a:avLst/>
          </a:prstGeom>
          <a:solidFill>
            <a:srgbClr val="F8FAF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334256"/>
            <a:ext cx="16824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결과 이후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15184" y="4334256"/>
            <a:ext cx="41970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순위 확인 중심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4" y="4334256"/>
            <a:ext cx="43799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커뮤니티 공유문과 다음 대회 CTA까지 생성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5212080"/>
            <a:ext cx="106984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" y="5212080"/>
            <a:ext cx="73152" cy="685800"/>
          </a:xfrm>
          <a:prstGeom prst="rect">
            <a:avLst/>
          </a:prstGeom>
          <a:solidFill>
            <a:srgbClr val="2457FF"/>
          </a:solidFill>
          <a:ln>
            <a:solidFill>
              <a:srgbClr val="2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5376672"/>
            <a:ext cx="10369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Malgun Gothic"/>
              </a:rPr>
              <a:t>차별화 문장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5779008"/>
            <a:ext cx="10369296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C697D"/>
                </a:solidFill>
                <a:latin typeface="Malgun Gothic"/>
              </a:rPr>
              <a:t>KRAFTON 게임 커뮤니티 맥락에 맞춰, 대회 운영 경험이 없는 사람이 실패하지 않도록 돕는 서비스입니다.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2823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97D"/>
                </a:solidFill>
                <a:latin typeface="Malgun Gothic"/>
              </a:rPr>
              <a:t>KRAFTON Community Cup Kit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C697D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457FF"/>
                </a:solidFill>
                <a:latin typeface="Malgun Gothic"/>
              </a:rPr>
              <a:t>PUBLISHING PLATFORM PM ASSIGNMENT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8138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11827"/>
                </a:solidFill>
                <a:latin typeface="Malgun Gothic"/>
              </a:rPr>
              <a:t>KPI와 측정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C697D"/>
                </a:solidFill>
                <a:latin typeface="Malgun Gothic"/>
              </a:rPr>
              <a:t>성과는 기능 사용량보다 대회가 실제로 완주되었는지로 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91640"/>
            <a:ext cx="27432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1">
                <a:solidFill>
                  <a:srgbClr val="5C697D"/>
                </a:solidFill>
                <a:latin typeface="Malgun Gothic"/>
              </a:rPr>
              <a:t>North Star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0482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11827"/>
                </a:solidFill>
                <a:latin typeface="Malgun Gothic"/>
              </a:rPr>
              <a:t>대회 완주율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404872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97D"/>
                </a:solidFill>
                <a:latin typeface="Malgun Gothic"/>
              </a:rPr>
              <a:t>생성 → 결과 공유 완료 비율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691640"/>
            <a:ext cx="24688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03904" y="18288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1">
                <a:solidFill>
                  <a:srgbClr val="5C697D"/>
                </a:solidFill>
                <a:latin typeface="Malgun Gothic"/>
              </a:rPr>
              <a:t>Funnel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3904" y="204825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11827"/>
                </a:solidFill>
                <a:latin typeface="Malgun Gothic"/>
              </a:rPr>
              <a:t>생성 완료율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3904" y="2404872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97D"/>
                </a:solidFill>
                <a:latin typeface="Malgun Gothic"/>
              </a:rPr>
              <a:t>설정 시작 → 모집 페이지 발행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69164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4" y="182880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1">
                <a:solidFill>
                  <a:srgbClr val="5C697D"/>
                </a:solidFill>
                <a:latin typeface="Malgun Gothic"/>
              </a:rPr>
              <a:t>Operation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04825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11827"/>
                </a:solidFill>
                <a:latin typeface="Malgun Gothic"/>
              </a:rPr>
              <a:t>결과 제출 지연률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404872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97D"/>
                </a:solidFill>
                <a:latin typeface="Malgun Gothic"/>
              </a:rPr>
              <a:t>경기 종료 후 N분 내 미제출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691640"/>
            <a:ext cx="23317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36024" y="1828800"/>
            <a:ext cx="2057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1">
                <a:solidFill>
                  <a:srgbClr val="5C697D"/>
                </a:solidFill>
                <a:latin typeface="Malgun Gothic"/>
              </a:rPr>
              <a:t>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6024" y="204825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11827"/>
                </a:solidFill>
                <a:latin typeface="Malgun Gothic"/>
              </a:rPr>
              <a:t>재개최율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6024" y="2404872"/>
            <a:ext cx="2057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97D"/>
                </a:solidFill>
                <a:latin typeface="Malgun Gothic"/>
              </a:rPr>
              <a:t>30/60일 내 다음 대회 생성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520440"/>
            <a:ext cx="10698480" cy="548640"/>
          </a:xfrm>
          <a:prstGeom prst="roundRect">
            <a:avLst>
              <a:gd name="adj" fmla="val 8000"/>
            </a:avLst>
          </a:prstGeom>
          <a:solidFill>
            <a:srgbClr val="101521"/>
          </a:solidFill>
          <a:ln>
            <a:solidFill>
              <a:srgbClr val="1015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666744"/>
            <a:ext cx="19110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1">
                <a:solidFill>
                  <a:srgbClr val="FFFFFF"/>
                </a:solidFill>
                <a:latin typeface="Malgun Gothic"/>
              </a:rPr>
              <a:t>KPI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43784" y="3666744"/>
            <a:ext cx="405993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1">
                <a:solidFill>
                  <a:srgbClr val="FFFFFF"/>
                </a:solidFill>
                <a:latin typeface="Malgun Gothic"/>
              </a:rPr>
              <a:t>정의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0024" y="3666744"/>
            <a:ext cx="42885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1">
                <a:solidFill>
                  <a:srgbClr val="FFFFFF"/>
                </a:solidFill>
                <a:latin typeface="Malgun Gothic"/>
              </a:rPr>
              <a:t>검증하려는 가설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4069080"/>
            <a:ext cx="106984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4206240"/>
            <a:ext cx="19110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체크인 완료율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43784" y="4206240"/>
            <a:ext cx="405993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신청자 중 대회 시작 전 체크인 완료 비율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0024" y="4206240"/>
            <a:ext cx="42885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노쇼 감소와 당일 안정성 개선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4617720"/>
            <a:ext cx="10698480" cy="548640"/>
          </a:xfrm>
          <a:prstGeom prst="rect">
            <a:avLst/>
          </a:prstGeom>
          <a:solidFill>
            <a:srgbClr val="F8FAFC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4754880"/>
            <a:ext cx="19110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운영자 수동 공지 횟수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43784" y="4754880"/>
            <a:ext cx="405993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운영자가 직접 작성한 반복 공지 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0024" y="4754880"/>
            <a:ext cx="42885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운영 생산성 개선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5166360"/>
            <a:ext cx="106984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5303520"/>
            <a:ext cx="19110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결과 공유 완료율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43784" y="5303520"/>
            <a:ext cx="405993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최종 순위 확정 후 공유문 생성/게시 비율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0024" y="5303520"/>
            <a:ext cx="42885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111827"/>
                </a:solidFill>
                <a:latin typeface="Malgun Gothic"/>
              </a:rPr>
              <a:t>커뮤니티 회고와 재개최 가능성 증가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2823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97D"/>
                </a:solidFill>
                <a:latin typeface="Malgun Gothic"/>
              </a:rPr>
              <a:t>KRAFTON Community Cup Kit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C697D"/>
                </a:solidFill>
                <a:latin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457FF"/>
                </a:solidFill>
                <a:latin typeface="Malgun Gothic"/>
              </a:rPr>
              <a:t>PUBLISHING PLATFORM PM ASSIGNMENT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8138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11827"/>
                </a:solidFill>
                <a:latin typeface="Malgun Gothic"/>
              </a:rPr>
              <a:t>MVP 범위와 AI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C697D"/>
                </a:solidFill>
                <a:latin typeface="Malgun Gothic"/>
              </a:rPr>
              <a:t>1년 내 실행 가능한 범위로 시작하고, 운영 생산성을 지표로 검증합니다.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28800"/>
            <a:ext cx="33375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828800"/>
            <a:ext cx="73152" cy="2148840"/>
          </a:xfrm>
          <a:prstGeom prst="rect">
            <a:avLst/>
          </a:prstGeom>
          <a:solidFill>
            <a:srgbClr val="2457FF"/>
          </a:solidFill>
          <a:ln>
            <a:solidFill>
              <a:srgbClr val="2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993392"/>
            <a:ext cx="3008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Malgun Gothic"/>
              </a:rPr>
              <a:t>MVP 포함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395728"/>
            <a:ext cx="3008376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C697D"/>
                </a:solidFill>
                <a:latin typeface="Malgun Gothic"/>
              </a:rPr>
              <a:t>대회 생성, AI 룰북 초안, 체크인, 라이브 운영 대시보드, 결과 공유 초안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3375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828800"/>
            <a:ext cx="73152" cy="2148840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993392"/>
            <a:ext cx="3008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Malgun Gothic"/>
              </a:rPr>
              <a:t>MVP 제외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2395728"/>
            <a:ext cx="3008376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C697D"/>
                </a:solidFill>
                <a:latin typeface="Malgun Gothic"/>
              </a:rPr>
              <a:t>실시간 게임 API 연동, 상금 정산, 스트리밍 중계, 복잡한 리그 운영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1828800"/>
            <a:ext cx="333756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56448" y="1828800"/>
            <a:ext cx="73152" cy="214884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993392"/>
            <a:ext cx="3008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Malgun Gothic"/>
              </a:rPr>
              <a:t>AI 활용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95728"/>
            <a:ext cx="3008376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C697D"/>
                </a:solidFill>
                <a:latin typeface="Malgun Gothic"/>
              </a:rPr>
              <a:t>문제 구조화, KPI 초안, 룰북/공지 문구 생성, 프로토타입 구현 보조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709160"/>
            <a:ext cx="10771632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4709160"/>
            <a:ext cx="73152" cy="822960"/>
          </a:xfrm>
          <a:prstGeom prst="rect">
            <a:avLst/>
          </a:prstGeom>
          <a:solidFill>
            <a:srgbClr val="2457FF"/>
          </a:solidFill>
          <a:ln>
            <a:solidFill>
              <a:srgbClr val="2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873752"/>
            <a:ext cx="104424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Malgun Gothic"/>
              </a:rPr>
              <a:t>기대 효과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5276088"/>
            <a:ext cx="1044244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C697D"/>
                </a:solidFill>
                <a:latin typeface="Malgun Gothic"/>
              </a:rPr>
              <a:t>초보 운영자의 진입장벽을 낮추고, 커뮤니티 대회가 일회성 이벤트에서 반복 가능한 게임 밖 유저 접점으로 이어지게 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2823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C697D"/>
                </a:solidFill>
                <a:latin typeface="Malgun Gothic"/>
              </a:rPr>
              <a:t>KRAFTON Community Cup Kit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C697D"/>
                </a:solidFill>
                <a:latin typeface="Malgun Gothic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